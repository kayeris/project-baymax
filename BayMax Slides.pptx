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23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>
        <p:scale>
          <a:sx n="78" d="100"/>
          <a:sy n="78" d="100"/>
        </p:scale>
        <p:origin x="8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5630-2874-75EB-2E2C-747127EFD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C121D-F513-3531-14AA-7AC00240C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8A0ED-FB8B-054F-23F0-D7919C10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22C07-89C6-C478-AFDA-A7B09ECA6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547A-49A0-84A0-629C-10CFC01A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779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AE66-58D9-5481-BD89-7CF305CA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B256A-DD90-EFB7-E676-0AA5F2106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0D8A7-8A05-4DDE-BFB4-C5DF8AA7E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C4F18-B056-EEE1-FAB6-D3C915DA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2141C-9F75-34B4-5A8F-3D04D0DD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206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A677-35BF-364D-5398-3254EFCA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3BAD9-5A6A-2703-4810-DFD323BE1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94B85-91D7-EE8A-1697-28429998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47306-90C8-84D8-E3AE-6722B283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858BF-92EA-3A8C-2DF6-6B1CA89B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81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D9D33-C4C1-E98D-0CFB-449EEC0B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527C3-A41B-341F-AFBC-686C85B86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5E9D6-2D35-F5BB-99DE-2AD1E09EE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00E0E-5D84-30A2-BE0F-DD5DB22DB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D2E24-7BCC-3EA2-680C-6B0FBDF0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B917E-95E3-C4F0-7557-71A1C3FD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366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D279-427E-C7CD-3C7C-1C0AB48F4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418D3-9BB1-0BDF-BEE5-DBDCC0D37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0CFB9-87CB-FD4E-1ED0-5FABAC5E8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C3C46-F665-099A-4F95-448BAFCFD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85D5F-CF8A-D769-9FA9-3D834FCD9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056E44-E2C2-C87A-F716-8FCF8626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D8EB37-2469-0760-EA25-02A8BF02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28B4A-B560-5ADB-A9D8-EB11E64E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375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5C73-93AE-7B38-A6E8-15D87A7D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17CF0-7EA9-DBD5-ACD3-E6CA94F2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52322-2193-CFCE-05FB-4B4CF916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61351-746E-E096-889A-506AF742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376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FAF6F-0190-E840-C1D9-AD6DD490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C3DBD-8C4C-7DBE-DEBE-8F24DE49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77F23-FFD6-6206-4BB3-1BB7F850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516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6D84-45A6-004F-BEF0-21FD58682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2CC9-DAAB-4064-E237-8089FC752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5F94A-2BC9-78B1-ECCD-3E74816A0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8CFE0-5DBD-D7C0-9A34-9F8EA8C1B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03264-1D33-C2D0-E780-18FBE64F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602DE-62D1-0966-1BAD-BB945309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48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EE57-7C19-3E94-C416-77F56B0D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4B78D-D73C-88DC-1C5F-A3A980B3D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7D344-788A-F064-E77A-508FE25DC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0467A-7F05-0597-C7B0-AB716D335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530AD-D054-E480-37CD-48A5AC90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0ECFF-A473-7A01-4D4D-02B7235D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410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F2DD-63DE-EF22-3FE2-A815B7E0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73B6F-E28D-2E23-F515-719456D90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A5395-D357-675E-1D34-B1DCD967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AD6C5-A165-C0C8-94AC-7F48C1F22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C9FA0-3EED-A053-B991-0B9698AE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6057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55047-F240-111B-4FA6-6719D2A61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0CF49-514A-2EF9-5EFC-50D21DE7F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EDEBC-8B11-85A0-8956-44227FD8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E09B9-6FCD-C338-E42E-DE91B41C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78979-0C4D-99CA-3C21-A93306A1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992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983744-B176-8E13-43F1-B5DDC9B8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1E84C-9FD1-865F-4108-4F0191DBF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DB2BE-1717-8592-1BB5-D1DC6CBF5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3BB86-61AF-47BD-A616-B05A45E9801B}" type="datetimeFigureOut">
              <a:rPr lang="en-CA" smtClean="0"/>
              <a:t>2024-01-14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099E9-1350-0BF7-AE2C-CE569CF21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3C20A-30A7-863C-D74C-41F796E17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C896A-0B02-4793-A600-68EC70496B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403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microsoft.com/office/2007/relationships/hdphoto" Target="../media/hdphoto1.wdp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A05D-AF6E-DC65-F3CB-427C7F2DF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115" y="2513726"/>
            <a:ext cx="9144000" cy="1527241"/>
          </a:xfrm>
        </p:spPr>
        <p:txBody>
          <a:bodyPr>
            <a:noAutofit/>
          </a:bodyPr>
          <a:lstStyle/>
          <a:p>
            <a:pPr algn="r"/>
            <a:r>
              <a:rPr lang="en-US" sz="10000" dirty="0">
                <a:solidFill>
                  <a:schemeClr val="bg1"/>
                </a:solidFill>
                <a:latin typeface="Big Hero 6 " pitchFamily="2" charset="0"/>
              </a:rPr>
              <a:t>BAYMAX</a:t>
            </a:r>
            <a:endParaRPr lang="en-CA" sz="10000" dirty="0">
              <a:solidFill>
                <a:schemeClr val="bg1"/>
              </a:solidFill>
              <a:latin typeface="Big Hero 6 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09466F-B29C-4DEB-36A8-6AE35DA67875}"/>
              </a:ext>
            </a:extLst>
          </p:cNvPr>
          <p:cNvSpPr txBox="1">
            <a:spLocks/>
          </p:cNvSpPr>
          <p:nvPr/>
        </p:nvSpPr>
        <p:spPr>
          <a:xfrm>
            <a:off x="2782111" y="792559"/>
            <a:ext cx="9144000" cy="1368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0" dirty="0">
                <a:solidFill>
                  <a:schemeClr val="bg1"/>
                </a:solidFill>
                <a:latin typeface="Big Hero 6 " pitchFamily="2" charset="0"/>
              </a:rPr>
              <a:t>PROJECT</a:t>
            </a:r>
            <a:endParaRPr lang="en-CA" sz="12000" dirty="0">
              <a:solidFill>
                <a:schemeClr val="bg1"/>
              </a:solidFill>
              <a:latin typeface="Big Hero 6 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A4E2F-2EB0-48D1-9A7C-3E6CF2821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663"/>
            <a:ext cx="3511685" cy="69635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E15BB6-F4DF-8468-D29C-715383D95473}"/>
              </a:ext>
            </a:extLst>
          </p:cNvPr>
          <p:cNvSpPr txBox="1"/>
          <p:nvPr/>
        </p:nvSpPr>
        <p:spPr>
          <a:xfrm>
            <a:off x="7354111" y="6200747"/>
            <a:ext cx="467900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Saqif</a:t>
            </a:r>
            <a:r>
              <a:rPr lang="en-US" sz="2500" dirty="0">
                <a:solidFill>
                  <a:schemeClr val="bg1"/>
                </a:solidFill>
                <a:latin typeface="Berlin Sans FB" panose="020E0602020502020306" pitchFamily="34" charset="0"/>
              </a:rPr>
              <a:t> Abrar | Shaiza Hashmi</a:t>
            </a:r>
            <a:endParaRPr lang="en-CA" sz="25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50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32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F1BC05-2D37-B0A1-164F-A1E70A702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995" y="2178996"/>
            <a:ext cx="2227634" cy="22276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A47B90-0273-CCBA-3AC9-09B37ECF6C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4" t="22110" r="10885"/>
          <a:stretch/>
        </p:blipFill>
        <p:spPr>
          <a:xfrm>
            <a:off x="7739974" y="2178996"/>
            <a:ext cx="2227634" cy="22276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3BB1047-322C-ADE0-E002-C1A477794B56}"/>
              </a:ext>
            </a:extLst>
          </p:cNvPr>
          <p:cNvSpPr txBox="1">
            <a:spLocks/>
          </p:cNvSpPr>
          <p:nvPr/>
        </p:nvSpPr>
        <p:spPr>
          <a:xfrm>
            <a:off x="1524000" y="198540"/>
            <a:ext cx="9144000" cy="1264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dirty="0">
                <a:solidFill>
                  <a:schemeClr val="bg1"/>
                </a:solidFill>
                <a:latin typeface="Big Hero 6 " pitchFamily="2" charset="0"/>
              </a:rPr>
              <a:t>The Team</a:t>
            </a:r>
            <a:endParaRPr lang="en-CA" sz="8000" dirty="0">
              <a:solidFill>
                <a:schemeClr val="bg1"/>
              </a:solidFill>
              <a:latin typeface="Big Hero 6 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1C12E-8AED-9BCC-F962-2CDAC03738F2}"/>
              </a:ext>
            </a:extLst>
          </p:cNvPr>
          <p:cNvSpPr txBox="1"/>
          <p:nvPr/>
        </p:nvSpPr>
        <p:spPr>
          <a:xfrm>
            <a:off x="953310" y="5165387"/>
            <a:ext cx="46790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Berlin Sans FB" panose="020E0602020502020306" pitchFamily="34" charset="0"/>
              </a:rPr>
              <a:t>Shaiza Hashmi</a:t>
            </a:r>
          </a:p>
          <a:p>
            <a:pPr algn="ctr"/>
            <a:r>
              <a:rPr lang="en-US" sz="25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Fullstack</a:t>
            </a:r>
            <a:r>
              <a:rPr lang="en-US" sz="2500" dirty="0">
                <a:solidFill>
                  <a:schemeClr val="bg1"/>
                </a:solidFill>
                <a:latin typeface="Berlin Sans FB" panose="020E0602020502020306" pitchFamily="34" charset="0"/>
              </a:rPr>
              <a:t> Developer</a:t>
            </a:r>
            <a:endParaRPr lang="en-CA" sz="25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422A7-037C-68BD-F135-9B5009FB21BE}"/>
              </a:ext>
            </a:extLst>
          </p:cNvPr>
          <p:cNvSpPr txBox="1"/>
          <p:nvPr/>
        </p:nvSpPr>
        <p:spPr>
          <a:xfrm>
            <a:off x="6514289" y="5165387"/>
            <a:ext cx="46790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Saqif</a:t>
            </a:r>
            <a:r>
              <a:rPr lang="en-US" sz="2500" dirty="0">
                <a:solidFill>
                  <a:schemeClr val="bg1"/>
                </a:solidFill>
                <a:latin typeface="Berlin Sans FB" panose="020E0602020502020306" pitchFamily="34" charset="0"/>
              </a:rPr>
              <a:t> Abrar</a:t>
            </a:r>
          </a:p>
          <a:p>
            <a:pPr algn="ctr"/>
            <a:r>
              <a:rPr lang="en-US" sz="25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Fullstack</a:t>
            </a:r>
            <a:r>
              <a:rPr lang="en-US" sz="2500" dirty="0">
                <a:solidFill>
                  <a:schemeClr val="bg1"/>
                </a:solidFill>
                <a:latin typeface="Berlin Sans FB" panose="020E0602020502020306" pitchFamily="34" charset="0"/>
              </a:rPr>
              <a:t> Developer</a:t>
            </a:r>
            <a:endParaRPr lang="en-CA" sz="25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1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03CD65-C1CC-6C20-4F4E-1BE0AA375C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925" y="345670"/>
            <a:ext cx="109841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dirty="0">
                <a:latin typeface="Big Hero 6 " pitchFamily="2" charset="0"/>
              </a:rPr>
              <a:t>Tools n tech</a:t>
            </a:r>
            <a:endParaRPr lang="en-CA" sz="8000" dirty="0">
              <a:latin typeface="Big Hero 6 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BCA711-ECD1-97E4-2477-B5B2E0870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25" y="2103437"/>
            <a:ext cx="2166927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here - Partners - AI &amp; Big Data Expo North America - Conference &amp;  Exhibition">
            <a:extLst>
              <a:ext uri="{FF2B5EF4-FFF2-40B4-BE49-F238E27FC236}">
                <a16:creationId xmlns:a16="http://schemas.microsoft.com/office/drawing/2014/main" id="{FF97243B-43F4-570B-6189-AEE45826A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809" y="2103437"/>
            <a:ext cx="2537197" cy="124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lay.ht">
            <a:extLst>
              <a:ext uri="{FF2B5EF4-FFF2-40B4-BE49-F238E27FC236}">
                <a16:creationId xmlns:a16="http://schemas.microsoft.com/office/drawing/2014/main" id="{68C706AE-3768-10FC-E0B5-B179973F8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6430" y1="44068" x2="36078" y2="53511"/>
                        <a14:foregroundMark x1="36475" y1="42857" x2="36430" y2="44068"/>
                        <a14:foregroundMark x1="36601" y1="39467" x2="36475" y2="42857"/>
                        <a14:foregroundMark x1="38728" y1="45206" x2="38824" y2="48668"/>
                        <a14:foregroundMark x1="38662" y1="42857" x2="38696" y2="44068"/>
                        <a14:foregroundMark x1="38562" y1="39225" x2="38662" y2="42857"/>
                        <a14:foregroundMark x1="44314" y1="37772" x2="44444" y2="54237"/>
                        <a14:foregroundMark x1="52519" y1="51318" x2="52810" y2="53027"/>
                        <a14:foregroundMark x1="51242" y1="43826" x2="51654" y2="46247"/>
                        <a14:foregroundMark x1="57778" y1="41404" x2="60915" y2="54722"/>
                        <a14:foregroundMark x1="63529" y1="44310" x2="59739" y2="59564"/>
                        <a14:foregroundMark x1="67843" y1="53995" x2="67843" y2="53995"/>
                        <a14:foregroundMark x1="71111" y1="39709" x2="71242" y2="51332"/>
                        <a14:foregroundMark x1="81046" y1="40678" x2="81176" y2="51332"/>
                        <a14:backgroundMark x1="51373" y1="47942" x2="51373" y2="47942"/>
                        <a14:backgroundMark x1="52288" y1="46973" x2="52288" y2="46973"/>
                        <a14:backgroundMark x1="52026" y1="47215" x2="51895" y2="48426"/>
                        <a14:backgroundMark x1="52288" y1="47215" x2="52026" y2="49153"/>
                        <a14:backgroundMark x1="52288" y1="48184" x2="52418" y2="51332"/>
                        <a14:backgroundMark x1="51765" y1="46247" x2="51765" y2="47942"/>
                        <a14:backgroundMark x1="52157" y1="47700" x2="51111" y2="48184"/>
                        <a14:backgroundMark x1="38693" y1="44068" x2="38693" y2="44068"/>
                        <a14:backgroundMark x1="38824" y1="44310" x2="38301" y2="43341"/>
                        <a14:backgroundMark x1="39085" y1="42857" x2="39085" y2="42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174" y="1782762"/>
            <a:ext cx="3643312" cy="19669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nextjs&quot; Icon - Download for free – Iconduck">
            <a:extLst>
              <a:ext uri="{FF2B5EF4-FFF2-40B4-BE49-F238E27FC236}">
                <a16:creationId xmlns:a16="http://schemas.microsoft.com/office/drawing/2014/main" id="{13397514-6F9E-F35A-C2D6-F2271A5FC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402" y="3644617"/>
            <a:ext cx="2200068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4EF0F49D-1D26-A67E-374C-E486E9AC1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346" b="94393" l="853" r="98721">
                        <a14:foregroundMark x1="12367" y1="47664" x2="18763" y2="87850"/>
                        <a14:foregroundMark x1="18763" y1="87850" x2="13646" y2="39252"/>
                        <a14:foregroundMark x1="13646" y1="39252" x2="11727" y2="53271"/>
                        <a14:foregroundMark x1="5757" y1="76636" x2="4904" y2="81308"/>
                        <a14:foregroundMark x1="1279" y1="95327" x2="1279" y2="95327"/>
                        <a14:foregroundMark x1="29211" y1="19626" x2="36034" y2="61682"/>
                        <a14:foregroundMark x1="36034" y1="61682" x2="41791" y2="21495"/>
                        <a14:foregroundMark x1="41791" y1="21495" x2="42857" y2="17757"/>
                        <a14:foregroundMark x1="60128" y1="36449" x2="60768" y2="67290"/>
                        <a14:foregroundMark x1="71642" y1="32710" x2="69083" y2="52336"/>
                        <a14:foregroundMark x1="82942" y1="44860" x2="82942" y2="62617"/>
                        <a14:foregroundMark x1="93817" y1="52336" x2="93817" y2="52336"/>
                        <a14:foregroundMark x1="98721" y1="21495" x2="98507" y2="59813"/>
                        <a14:foregroundMark x1="52665" y1="43925" x2="52665" y2="35514"/>
                        <a14:foregroundMark x1="52665" y1="44860" x2="52665" y2="43925"/>
                        <a14:foregroundMark x1="52665" y1="46729" x2="52665" y2="44860"/>
                        <a14:foregroundMark x1="52665" y1="54206" x2="52665" y2="46729"/>
                        <a14:backgroundMark x1="52239" y1="44860" x2="52239" y2="44860"/>
                        <a14:backgroundMark x1="52878" y1="46729" x2="52878" y2="46729"/>
                        <a14:backgroundMark x1="52665" y1="43925" x2="52665" y2="439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889" y="5837035"/>
            <a:ext cx="2809170" cy="64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8F114405-9682-8F18-73A4-69395CA34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41" y="5370691"/>
            <a:ext cx="1900692" cy="116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7D78AE27-D282-9DD3-9A22-88875B4E8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384" y="5029482"/>
            <a:ext cx="1459230" cy="145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OpenJS Foundation: ESLint - Credly">
            <a:extLst>
              <a:ext uri="{FF2B5EF4-FFF2-40B4-BE49-F238E27FC236}">
                <a16:creationId xmlns:a16="http://schemas.microsoft.com/office/drawing/2014/main" id="{44A07C4C-810A-EC49-146D-AF178F729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968" y="3231849"/>
            <a:ext cx="1899995" cy="189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60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3C92-A65A-B591-4CBF-3C111AD1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6000" dirty="0">
                <a:latin typeface="Big Hero 6 " pitchFamily="2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86D95-EC57-CE9E-3159-DF50ADAF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Berlin Sans FB" panose="020E0602020502020306" pitchFamily="34" charset="77"/>
              </a:rPr>
              <a:t>The passion project of two curious kids who were inspired!</a:t>
            </a:r>
          </a:p>
          <a:p>
            <a:r>
              <a:rPr lang="en-CA" dirty="0">
                <a:latin typeface="Berlin Sans FB" panose="020E0602020502020306" pitchFamily="34" charset="77"/>
              </a:rPr>
              <a:t>Baymax is a robot personal health care companion who can measure the well-being of a patient. </a:t>
            </a:r>
          </a:p>
          <a:p>
            <a:r>
              <a:rPr lang="en-CA" dirty="0">
                <a:latin typeface="Berlin Sans FB" panose="020E0602020502020306" pitchFamily="34" charset="77"/>
              </a:rPr>
              <a:t>We hope to create an AI health care companion built on top of quality data to provide a a simple and friendly user experience for patients of all kinds.</a:t>
            </a:r>
          </a:p>
          <a:p>
            <a:r>
              <a:rPr lang="en-US" dirty="0">
                <a:latin typeface="Berlin Sans FB" panose="020E0602020502020306" pitchFamily="34" charset="77"/>
              </a:rPr>
              <a:t>Considering the leaps and bounds technology has made in the past few years, Baymax is becoming closer and closer to becoming a reality</a:t>
            </a:r>
            <a:endParaRPr lang="en-CA" dirty="0">
              <a:latin typeface="Berlin Sans FB" panose="020E0602020502020306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90853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3C92-A65A-B591-4CBF-3C111AD1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CA" sz="6000" dirty="0">
                <a:latin typeface="Big Hero 6 " pitchFamily="2" charset="0"/>
              </a:rPr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86D95-EC57-CE9E-3159-DF50ADAF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Berlin Sans FB" panose="020E0602020502020306" pitchFamily="34" charset="77"/>
              </a:rPr>
              <a:t>A healthcare companion can be expanded to various aspects. </a:t>
            </a:r>
          </a:p>
          <a:p>
            <a:r>
              <a:rPr lang="en-CA" dirty="0">
                <a:latin typeface="Berlin Sans FB" panose="020E0602020502020306" pitchFamily="34" charset="77"/>
              </a:rPr>
              <a:t>It provides patients an outlet to monitor their health over a long period of time.</a:t>
            </a:r>
          </a:p>
          <a:p>
            <a:r>
              <a:rPr lang="en-CA" dirty="0">
                <a:latin typeface="Berlin Sans FB" panose="020E0602020502020306" pitchFamily="34" charset="77"/>
              </a:rPr>
              <a:t>Can serve as a form of diagnosis after a certain level of confidence has been reached.</a:t>
            </a:r>
          </a:p>
          <a:p>
            <a:r>
              <a:rPr lang="en-CA" dirty="0">
                <a:latin typeface="Berlin Sans FB" panose="020E0602020502020306" pitchFamily="34" charset="77"/>
              </a:rPr>
              <a:t>Can be extended to hospitals complete several tasks such as patient history summarization, utilize diagnostic tools and more.</a:t>
            </a:r>
          </a:p>
          <a:p>
            <a:r>
              <a:rPr lang="en-CA" dirty="0">
                <a:latin typeface="Berlin Sans FB" panose="020E0602020502020306" pitchFamily="34" charset="77"/>
              </a:rPr>
              <a:t>Reduces mortality rate from missed details during handover between doctors</a:t>
            </a:r>
          </a:p>
        </p:txBody>
      </p:sp>
    </p:spTree>
    <p:extLst>
      <p:ext uri="{BB962C8B-B14F-4D97-AF65-F5344CB8AC3E}">
        <p14:creationId xmlns:p14="http://schemas.microsoft.com/office/powerpoint/2010/main" val="191004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3C92-A65A-B591-4CBF-3C111AD1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solidFill>
            <a:srgbClr val="AC0000"/>
          </a:solidFill>
        </p:spPr>
        <p:txBody>
          <a:bodyPr>
            <a:noAutofit/>
          </a:bodyPr>
          <a:lstStyle/>
          <a:p>
            <a:pPr algn="ctr"/>
            <a:r>
              <a:rPr lang="en-CA" sz="15000" dirty="0">
                <a:solidFill>
                  <a:schemeClr val="bg1"/>
                </a:solidFill>
                <a:latin typeface="Big Hero 6 " pitchFamily="2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5797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3C92-A65A-B591-4CBF-3C111AD1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Big Hero 6 " pitchFamily="2" charset="0"/>
              </a:rPr>
              <a:t>Challenges + Learning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86D95-EC57-CE9E-3159-DF50ADAF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0413"/>
            <a:ext cx="10515600" cy="3856550"/>
          </a:xfrm>
        </p:spPr>
        <p:txBody>
          <a:bodyPr/>
          <a:lstStyle/>
          <a:p>
            <a:r>
              <a:rPr lang="en-CA" dirty="0">
                <a:latin typeface="Berlin Sans FB" panose="020E0602020502020306" pitchFamily="34" charset="77"/>
              </a:rPr>
              <a:t>First time utilizing LLMs and training speech models!</a:t>
            </a:r>
          </a:p>
          <a:p>
            <a:r>
              <a:rPr lang="en-CA" dirty="0">
                <a:latin typeface="Berlin Sans FB" panose="020E0602020502020306" pitchFamily="34" charset="77"/>
              </a:rPr>
              <a:t>First time incorporating a 3d model on the web</a:t>
            </a:r>
          </a:p>
          <a:p>
            <a:r>
              <a:rPr lang="en-CA" dirty="0">
                <a:latin typeface="Berlin Sans FB" panose="020E0602020502020306" pitchFamily="34" charset="77"/>
              </a:rPr>
              <a:t>Difficulty navigating and integrating AI APIs to the new and more complex architecture of Next.js 13.</a:t>
            </a:r>
          </a:p>
          <a:p>
            <a:r>
              <a:rPr lang="en-US" dirty="0">
                <a:latin typeface="Berlin Sans FB" panose="020E0602020502020306" pitchFamily="34" charset="77"/>
              </a:rPr>
              <a:t>Creating the perfect and identical AI voice model</a:t>
            </a:r>
          </a:p>
          <a:p>
            <a:r>
              <a:rPr lang="en-US" dirty="0">
                <a:latin typeface="Berlin Sans FB" panose="020E0602020502020306" pitchFamily="34" charset="77"/>
              </a:rPr>
              <a:t>Fitting the AI model to accurately respond to various randomized prompts with the correct style and manner of speech</a:t>
            </a:r>
          </a:p>
          <a:p>
            <a:r>
              <a:rPr lang="en-US" dirty="0">
                <a:latin typeface="Berlin Sans FB" panose="020E0602020502020306" pitchFamily="34" charset="77"/>
              </a:rPr>
              <a:t>Returning and handling streams of text and speech</a:t>
            </a:r>
            <a:endParaRPr lang="en-CA" dirty="0">
              <a:latin typeface="Berlin Sans FB" panose="020E0602020502020306" pitchFamily="34" charset="77"/>
            </a:endParaRPr>
          </a:p>
          <a:p>
            <a:endParaRPr lang="en-CA" dirty="0">
              <a:latin typeface="Berlin Sans FB" panose="020E0602020502020306" pitchFamily="34" charset="77"/>
            </a:endParaRPr>
          </a:p>
          <a:p>
            <a:endParaRPr lang="en-CA" dirty="0">
              <a:latin typeface="Berlin Sans FB" panose="020E0602020502020306" pitchFamily="34" charset="77"/>
            </a:endParaRPr>
          </a:p>
          <a:p>
            <a:endParaRPr lang="en-CA" dirty="0">
              <a:latin typeface="Berlin Sans FB" panose="020E0602020502020306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8010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3C92-A65A-B591-4CBF-3C111AD1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Big Hero 6 " pitchFamily="2" charset="0"/>
              </a:rPr>
              <a:t>The Future of To-Dos!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86D95-EC57-CE9E-3159-DF50ADAF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Berlin Sans FB" panose="020E0602020502020306" pitchFamily="34" charset="77"/>
              </a:rPr>
              <a:t>Optimize the chat language model to be flexible and precise.</a:t>
            </a:r>
          </a:p>
          <a:p>
            <a:r>
              <a:rPr lang="en-CA" dirty="0">
                <a:latin typeface="Berlin Sans FB" panose="020E0602020502020306" pitchFamily="34" charset="77"/>
              </a:rPr>
              <a:t>Optimize the voice cloning to be more accurate to the movie.</a:t>
            </a:r>
          </a:p>
          <a:p>
            <a:r>
              <a:rPr lang="en-CA" dirty="0">
                <a:latin typeface="Berlin Sans FB" panose="020E0602020502020306" pitchFamily="34" charset="77"/>
              </a:rPr>
              <a:t>Develop the exoskeleton and the inflatable frame.</a:t>
            </a:r>
          </a:p>
          <a:p>
            <a:r>
              <a:rPr lang="en-CA" dirty="0">
                <a:latin typeface="Berlin Sans FB" panose="020E0602020502020306" pitchFamily="34" charset="77"/>
              </a:rPr>
              <a:t>Incorporate hardware medical tools including temperature scanners, blood oxidation, and more!</a:t>
            </a:r>
          </a:p>
          <a:p>
            <a:r>
              <a:rPr lang="en-CA" dirty="0">
                <a:latin typeface="Berlin Sans FB" panose="020E0602020502020306" pitchFamily="34" charset="77"/>
              </a:rPr>
              <a:t>The new generation of doctors can grow with this technology, to optimize collaboration</a:t>
            </a:r>
          </a:p>
        </p:txBody>
      </p:sp>
    </p:spTree>
    <p:extLst>
      <p:ext uri="{BB962C8B-B14F-4D97-AF65-F5344CB8AC3E}">
        <p14:creationId xmlns:p14="http://schemas.microsoft.com/office/powerpoint/2010/main" val="256544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A05D-AF6E-DC65-F3CB-427C7F2DF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115" y="2513726"/>
            <a:ext cx="9144000" cy="1527241"/>
          </a:xfrm>
        </p:spPr>
        <p:txBody>
          <a:bodyPr>
            <a:noAutofit/>
          </a:bodyPr>
          <a:lstStyle/>
          <a:p>
            <a:pPr algn="r"/>
            <a:r>
              <a:rPr lang="en-US" sz="10000" dirty="0">
                <a:solidFill>
                  <a:schemeClr val="bg1"/>
                </a:solidFill>
                <a:latin typeface="Big Hero 6 " pitchFamily="2" charset="0"/>
              </a:rPr>
              <a:t>BAYMAX</a:t>
            </a:r>
            <a:endParaRPr lang="en-CA" sz="10000" dirty="0">
              <a:solidFill>
                <a:schemeClr val="bg1"/>
              </a:solidFill>
              <a:latin typeface="Big Hero 6 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A4E2F-2EB0-48D1-9A7C-3E6CF2821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78400" y="395352"/>
            <a:ext cx="3513600" cy="699177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99875C-8E4F-E8A5-0623-6FFBB218B205}"/>
              </a:ext>
            </a:extLst>
          </p:cNvPr>
          <p:cNvSpPr txBox="1">
            <a:spLocks/>
          </p:cNvSpPr>
          <p:nvPr/>
        </p:nvSpPr>
        <p:spPr>
          <a:xfrm>
            <a:off x="158885" y="2715232"/>
            <a:ext cx="9144000" cy="23520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AC0000"/>
                </a:solidFill>
                <a:latin typeface="Big Hero 6 " pitchFamily="2" charset="0"/>
              </a:rPr>
              <a:t>We hope you are satisfied with your care!</a:t>
            </a:r>
            <a:endParaRPr lang="en-CA" dirty="0">
              <a:solidFill>
                <a:srgbClr val="AC0000"/>
              </a:solidFill>
              <a:latin typeface="Big Hero 6 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946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328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Berlin Sans FB</vt:lpstr>
      <vt:lpstr>Big Hero 6 </vt:lpstr>
      <vt:lpstr>Calibri</vt:lpstr>
      <vt:lpstr>Calibri Light</vt:lpstr>
      <vt:lpstr>Office Theme</vt:lpstr>
      <vt:lpstr>BAYMAX</vt:lpstr>
      <vt:lpstr>PowerPoint Presentation</vt:lpstr>
      <vt:lpstr>Tools n tech</vt:lpstr>
      <vt:lpstr>Overview</vt:lpstr>
      <vt:lpstr>Application</vt:lpstr>
      <vt:lpstr>Demo</vt:lpstr>
      <vt:lpstr>Challenges + Learning Opportunities</vt:lpstr>
      <vt:lpstr>The Future of To-Dos!</vt:lpstr>
      <vt:lpstr>BAYMAX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BAYMAX</dc:title>
  <dc:creator>Fire Star</dc:creator>
  <cp:lastModifiedBy>Fire Star</cp:lastModifiedBy>
  <cp:revision>9</cp:revision>
  <dcterms:created xsi:type="dcterms:W3CDTF">2024-01-14T09:00:24Z</dcterms:created>
  <dcterms:modified xsi:type="dcterms:W3CDTF">2024-01-14T15:52:58Z</dcterms:modified>
</cp:coreProperties>
</file>